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higham.com/2018/12/03/half-precision-arithmetic-fp16-versus-bfloat16/" TargetMode="External"/><Relationship Id="rId3" Type="http://schemas.openxmlformats.org/officeDocument/2006/relationships/hyperlink" Target="https://developer.nvidia.com/blog/accelerating-ai-training-with-tf32-tensor-cores/" TargetMode="External"/><Relationship Id="rId4" Type="http://schemas.openxmlformats.org/officeDocument/2006/relationships/hyperlink" Target="https://huggingface.co/docs/transformers/v4.15.0/en/performance"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nvidia.com/deeplearning/performance/mixed-precision-training/index.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0e29cc5c39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0e29cc5c39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0e29cc5c3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0e29cc5c3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Figure from: https://github.com/nyu-cs2590/course-material/blob/gh-pages/fall2023/section/sec09/sec09.pdf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0e29cc5c39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0e29cc5c39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Figure from: https://arxiv.org/abs/2404.19737</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0e29cc5c39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0e29cc5c39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https://github.com/cybertronai/gradient-checkpointing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0e29cc5c3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0e29cc5c3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https://unsloth.ai/blog/gradient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0e29cc5c3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0e29cc5c3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Bfloat16 has three fewer bits in the significand than fp16, but three more in the exponent. And it has the same exponent size as fp32.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Consequently, converting from fp32 to bfloat16 is easy: the exponent is kept the same and the significand is rounded or truncated from 24 bits to 8; hence overflow and underflow are not possible in the conversion. On the other hand, when we convert from fp32 to the much narrower fp16 format overflow and underflow can readily happen, necessitating the development of techniques for rescaling before conversion—see the recent EPrint Squeezing a Matrix Into Half Precision, with an Application to Solving Linear Systems by me and Sri Pranesh.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drawback of bfloat16 is its lesser precision: essentially 3 significant decimal digits versus 4 for fp16. The next table shows the unit roundoff u, smallest positive (subnormal) number xmins, smallest normalized positive number xmin, and largest finite number xmax for the three formats.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Cite: </a:t>
            </a:r>
            <a:r>
              <a:rPr lang="en" u="sng">
                <a:solidFill>
                  <a:schemeClr val="hlink"/>
                </a:solidFill>
                <a:hlinkClick r:id="rId2"/>
              </a:rPr>
              <a:t>https://nhigham.com/2018/12/03/half-precision-arithmetic-fp16-versus-bfloat16/</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https://developer.nvidia.com/blog/accelerating-ai-training-with-tf32-tensor-cores/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Figure: </a:t>
            </a:r>
            <a:r>
              <a:rPr lang="en" u="sng">
                <a:solidFill>
                  <a:schemeClr val="hlink"/>
                </a:solidFill>
                <a:hlinkClick r:id="rId4"/>
              </a:rPr>
              <a:t>https://huggingface.co/docs/transformers/v4.15.0/en/performance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0e29cc5c39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0e29cc5c39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500"/>
              </a:spcBef>
              <a:spcAft>
                <a:spcPts val="0"/>
              </a:spcAft>
              <a:buClr>
                <a:schemeClr val="dk1"/>
              </a:buClr>
              <a:buSzPts val="1100"/>
              <a:buFont typeface="Arial"/>
              <a:buNone/>
            </a:pPr>
            <a:r>
              <a:rPr lang="en" sz="1200">
                <a:solidFill>
                  <a:srgbClr val="4B4545"/>
                </a:solidFill>
              </a:rPr>
              <a:t>As was shown in the previous section, successfully training some networks requires gradient value scaling to keep them from becoming zeros in FP16. This can be achieved with a single multiplication. You can scale the loss values computed in the forward pass, before starting backpropagation. By the chain rule, backpropagation ensures that all the gradient values of the same amount are scaled. This requires no extra operations during backpropagation and keeps the relevant gradient values from becoming zeros and losing that gradient information.</a:t>
            </a:r>
            <a:endParaRPr sz="1200">
              <a:solidFill>
                <a:srgbClr val="4B4545"/>
              </a:solidFill>
            </a:endParaRPr>
          </a:p>
          <a:p>
            <a:pPr indent="0" lvl="0" marL="0" rtl="0" algn="l">
              <a:lnSpc>
                <a:spcPct val="150000"/>
              </a:lnSpc>
              <a:spcBef>
                <a:spcPts val="1500"/>
              </a:spcBef>
              <a:spcAft>
                <a:spcPts val="0"/>
              </a:spcAft>
              <a:buClr>
                <a:schemeClr val="dk1"/>
              </a:buClr>
              <a:buSzPts val="1100"/>
              <a:buFont typeface="Arial"/>
              <a:buNone/>
            </a:pPr>
            <a:r>
              <a:rPr lang="en" sz="1200">
                <a:solidFill>
                  <a:srgbClr val="4B4545"/>
                </a:solidFill>
              </a:rPr>
              <a:t>Weight gradients must be unscaled before weight update, to maintain the magnitude of updates the same as in FP32 training. It is simplest to perform this descaling right after the backward pass but before gradient clipping or any other gradient-related computations. This ensures that no hyperparameters (such as gradient clipping threshold, weight decay, etc.) have to be adjusted.</a:t>
            </a:r>
            <a:endParaRPr sz="1200">
              <a:solidFill>
                <a:srgbClr val="4B4545"/>
              </a:solidFill>
            </a:endParaRPr>
          </a:p>
          <a:p>
            <a:pPr indent="0" lvl="0" marL="0" rtl="0" algn="l">
              <a:lnSpc>
                <a:spcPct val="150000"/>
              </a:lnSpc>
              <a:spcBef>
                <a:spcPts val="1500"/>
              </a:spcBef>
              <a:spcAft>
                <a:spcPts val="0"/>
              </a:spcAft>
              <a:buClr>
                <a:schemeClr val="dk1"/>
              </a:buClr>
              <a:buSzPts val="1100"/>
              <a:buFont typeface="Arial"/>
              <a:buNone/>
            </a:pPr>
            <a:r>
              <a:rPr lang="en" sz="1200">
                <a:solidFill>
                  <a:srgbClr val="4B4545"/>
                </a:solidFill>
              </a:rPr>
              <a:t>While many networks match FP32 training results when all tensors are stored in FP16, some require updating an FP32 copy of weights. Furthermore, values computed by large reductions should be left in FP32. Examples of this include statistics (mean and variance) computed by batch-normalization, SoftMax. Batch-normalization can still take FP16 inputs and outputs, saving half the bandwidth compared to FP32, it’s just that the statistics and value adjustment should be done in FP32. This leads to the following high-level procedure for training:</a:t>
            </a:r>
            <a:endParaRPr sz="1200">
              <a:solidFill>
                <a:srgbClr val="4B4545"/>
              </a:solidFill>
            </a:endParaRPr>
          </a:p>
          <a:p>
            <a:pPr indent="-304800" lvl="0" marL="457200" rtl="0" algn="l">
              <a:lnSpc>
                <a:spcPct val="150000"/>
              </a:lnSpc>
              <a:spcBef>
                <a:spcPts val="1500"/>
              </a:spcBef>
              <a:spcAft>
                <a:spcPts val="0"/>
              </a:spcAft>
              <a:buClr>
                <a:srgbClr val="4B4545"/>
              </a:buClr>
              <a:buSzPts val="1200"/>
              <a:buAutoNum type="arabicPeriod"/>
            </a:pPr>
            <a:r>
              <a:rPr lang="en" sz="1200">
                <a:solidFill>
                  <a:srgbClr val="4B4545"/>
                </a:solidFill>
              </a:rPr>
              <a:t>Maintain a primary copy of weights in FP32.</a:t>
            </a:r>
            <a:endParaRPr sz="1200">
              <a:solidFill>
                <a:srgbClr val="4B4545"/>
              </a:solidFill>
            </a:endParaRPr>
          </a:p>
          <a:p>
            <a:pPr indent="-304800" lvl="0" marL="457200" rtl="0" algn="l">
              <a:lnSpc>
                <a:spcPct val="150000"/>
              </a:lnSpc>
              <a:spcBef>
                <a:spcPts val="0"/>
              </a:spcBef>
              <a:spcAft>
                <a:spcPts val="0"/>
              </a:spcAft>
              <a:buClr>
                <a:srgbClr val="4B4545"/>
              </a:buClr>
              <a:buSzPts val="1200"/>
              <a:buAutoNum type="arabicPeriod"/>
            </a:pPr>
            <a:r>
              <a:rPr lang="en" sz="1200">
                <a:solidFill>
                  <a:srgbClr val="4B4545"/>
                </a:solidFill>
              </a:rPr>
              <a:t>For each iteration:</a:t>
            </a:r>
            <a:endParaRPr sz="1200">
              <a:solidFill>
                <a:srgbClr val="4B4545"/>
              </a:solidFill>
            </a:endParaRPr>
          </a:p>
          <a:p>
            <a:pPr indent="-304800" lvl="1" marL="914400" rtl="0" algn="l">
              <a:lnSpc>
                <a:spcPct val="115000"/>
              </a:lnSpc>
              <a:spcBef>
                <a:spcPts val="0"/>
              </a:spcBef>
              <a:spcAft>
                <a:spcPts val="0"/>
              </a:spcAft>
              <a:buClr>
                <a:srgbClr val="4B4545"/>
              </a:buClr>
              <a:buSzPts val="1200"/>
              <a:buAutoNum type="alphaLcPeriod"/>
            </a:pPr>
            <a:r>
              <a:rPr lang="en" sz="1200">
                <a:solidFill>
                  <a:srgbClr val="4B4545"/>
                </a:solidFill>
              </a:rPr>
              <a:t>Make an FP16 copy of the weights.</a:t>
            </a:r>
            <a:endParaRPr sz="1200">
              <a:solidFill>
                <a:srgbClr val="4B4545"/>
              </a:solidFill>
            </a:endParaRPr>
          </a:p>
          <a:p>
            <a:pPr indent="-304800" lvl="1" marL="914400" rtl="0" algn="l">
              <a:lnSpc>
                <a:spcPct val="115000"/>
              </a:lnSpc>
              <a:spcBef>
                <a:spcPts val="0"/>
              </a:spcBef>
              <a:spcAft>
                <a:spcPts val="0"/>
              </a:spcAft>
              <a:buClr>
                <a:srgbClr val="4B4545"/>
              </a:buClr>
              <a:buSzPts val="1200"/>
              <a:buAutoNum type="alphaLcPeriod"/>
            </a:pPr>
            <a:r>
              <a:rPr lang="en" sz="1200">
                <a:solidFill>
                  <a:srgbClr val="4B4545"/>
                </a:solidFill>
              </a:rPr>
              <a:t>Forward propagation (FP16 weights and activations).</a:t>
            </a:r>
            <a:endParaRPr sz="1200">
              <a:solidFill>
                <a:srgbClr val="4B4545"/>
              </a:solidFill>
            </a:endParaRPr>
          </a:p>
          <a:p>
            <a:pPr indent="-304800" lvl="1" marL="914400" rtl="0" algn="l">
              <a:lnSpc>
                <a:spcPct val="115000"/>
              </a:lnSpc>
              <a:spcBef>
                <a:spcPts val="0"/>
              </a:spcBef>
              <a:spcAft>
                <a:spcPts val="0"/>
              </a:spcAft>
              <a:buClr>
                <a:srgbClr val="4B4545"/>
              </a:buClr>
              <a:buSzPts val="1200"/>
              <a:buAutoNum type="alphaLcPeriod"/>
            </a:pPr>
            <a:r>
              <a:rPr lang="en" sz="1200">
                <a:solidFill>
                  <a:srgbClr val="4B4545"/>
                </a:solidFill>
              </a:rPr>
              <a:t>Multiply the resulting loss with the scaling factor </a:t>
            </a:r>
            <a:r>
              <a:rPr i="1" lang="en" sz="1200">
                <a:solidFill>
                  <a:srgbClr val="4B4545"/>
                </a:solidFill>
              </a:rPr>
              <a:t>S</a:t>
            </a:r>
            <a:r>
              <a:rPr lang="en" sz="1200">
                <a:solidFill>
                  <a:srgbClr val="4B4545"/>
                </a:solidFill>
              </a:rPr>
              <a:t>.</a:t>
            </a:r>
            <a:endParaRPr sz="1200">
              <a:solidFill>
                <a:srgbClr val="4B4545"/>
              </a:solidFill>
            </a:endParaRPr>
          </a:p>
          <a:p>
            <a:pPr indent="-304800" lvl="1" marL="914400" rtl="0" algn="l">
              <a:lnSpc>
                <a:spcPct val="115000"/>
              </a:lnSpc>
              <a:spcBef>
                <a:spcPts val="0"/>
              </a:spcBef>
              <a:spcAft>
                <a:spcPts val="0"/>
              </a:spcAft>
              <a:buClr>
                <a:srgbClr val="4B4545"/>
              </a:buClr>
              <a:buSzPts val="1200"/>
              <a:buAutoNum type="alphaLcPeriod"/>
            </a:pPr>
            <a:r>
              <a:rPr lang="en" sz="1200">
                <a:solidFill>
                  <a:srgbClr val="4B4545"/>
                </a:solidFill>
              </a:rPr>
              <a:t>Backward propagation (FP16 weights, activations, and their gradients).</a:t>
            </a:r>
            <a:endParaRPr sz="1200">
              <a:solidFill>
                <a:srgbClr val="4B4545"/>
              </a:solidFill>
            </a:endParaRPr>
          </a:p>
          <a:p>
            <a:pPr indent="-304800" lvl="1" marL="914400" rtl="0" algn="l">
              <a:lnSpc>
                <a:spcPct val="115000"/>
              </a:lnSpc>
              <a:spcBef>
                <a:spcPts val="0"/>
              </a:spcBef>
              <a:spcAft>
                <a:spcPts val="0"/>
              </a:spcAft>
              <a:buClr>
                <a:srgbClr val="4B4545"/>
              </a:buClr>
              <a:buSzPts val="1200"/>
              <a:buAutoNum type="alphaLcPeriod"/>
            </a:pPr>
            <a:r>
              <a:rPr lang="en" sz="1200">
                <a:solidFill>
                  <a:srgbClr val="4B4545"/>
                </a:solidFill>
              </a:rPr>
              <a:t>Multiply the weight gradient with 1/</a:t>
            </a:r>
            <a:r>
              <a:rPr i="1" lang="en" sz="1200">
                <a:solidFill>
                  <a:srgbClr val="4B4545"/>
                </a:solidFill>
              </a:rPr>
              <a:t>S</a:t>
            </a:r>
            <a:r>
              <a:rPr lang="en" sz="1200">
                <a:solidFill>
                  <a:srgbClr val="4B4545"/>
                </a:solidFill>
              </a:rPr>
              <a:t>.</a:t>
            </a:r>
            <a:endParaRPr sz="1200">
              <a:solidFill>
                <a:srgbClr val="4B4545"/>
              </a:solidFill>
            </a:endParaRPr>
          </a:p>
          <a:p>
            <a:pPr indent="-304800" lvl="1" marL="914400" rtl="0" algn="l">
              <a:lnSpc>
                <a:spcPct val="115000"/>
              </a:lnSpc>
              <a:spcBef>
                <a:spcPts val="0"/>
              </a:spcBef>
              <a:spcAft>
                <a:spcPts val="0"/>
              </a:spcAft>
              <a:buClr>
                <a:srgbClr val="4B4545"/>
              </a:buClr>
              <a:buSzPts val="1200"/>
              <a:buAutoNum type="alphaLcPeriod"/>
            </a:pPr>
            <a:r>
              <a:rPr lang="en" sz="1200">
                <a:solidFill>
                  <a:srgbClr val="4B4545"/>
                </a:solidFill>
              </a:rPr>
              <a:t>Complete the weight update (including gradient clipping, etc.).</a:t>
            </a:r>
            <a:endParaRPr sz="1200">
              <a:solidFill>
                <a:srgbClr val="4B4545"/>
              </a:solidFill>
            </a:endParaRPr>
          </a:p>
          <a:p>
            <a:pPr indent="0" lvl="0" marL="0" rtl="0" algn="l">
              <a:lnSpc>
                <a:spcPct val="115000"/>
              </a:lnSpc>
              <a:spcBef>
                <a:spcPts val="800"/>
              </a:spcBef>
              <a:spcAft>
                <a:spcPts val="0"/>
              </a:spcAft>
              <a:buNone/>
            </a:pPr>
            <a:r>
              <a:rPr lang="en" sz="1200">
                <a:solidFill>
                  <a:srgbClr val="4B4545"/>
                </a:solidFill>
              </a:rPr>
              <a:t>Text + Figure: </a:t>
            </a:r>
            <a:r>
              <a:rPr lang="en" sz="1200" u="sng">
                <a:solidFill>
                  <a:schemeClr val="hlink"/>
                </a:solidFill>
                <a:hlinkClick r:id="rId2"/>
              </a:rPr>
              <a:t>https://docs.nvidia.com/deeplearning/performance/mixed-precision-training/index.html</a:t>
            </a:r>
            <a:endParaRPr sz="1200">
              <a:solidFill>
                <a:srgbClr val="4B4545"/>
              </a:solidFill>
            </a:endParaRPr>
          </a:p>
          <a:p>
            <a:pPr indent="0" lvl="0" marL="0" rtl="0" algn="l">
              <a:lnSpc>
                <a:spcPct val="115000"/>
              </a:lnSpc>
              <a:spcBef>
                <a:spcPts val="800"/>
              </a:spcBef>
              <a:spcAft>
                <a:spcPts val="800"/>
              </a:spcAft>
              <a:buNone/>
            </a:pPr>
            <a:r>
              <a:t/>
            </a:r>
            <a:endParaRPr sz="1200">
              <a:solidFill>
                <a:srgbClr val="4B4545"/>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0e29cc5c39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0e29cc5c39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Figure from: https://github.com/nyu-cs2590/course-material/blob/gh-pages/fall2023/section/sec09/sec09.pdf</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0e29cc5c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0e29cc5c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https://colossalai.org/docs/concepts/paradigms_of_parallelism/</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0e29cc5c3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0e29cc5c3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https://docs.nvidia.com/nemo-framework/user-guide/latest/nemotoolkit/features/parallelisms.html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0e29cc5c39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0e29cc5c39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0e29cc5c39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0e29cc5c39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0e29cc5c39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0e29cc5c39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0e29cc5c39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0e29cc5c39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0e29cc5c39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0e29cc5c39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0e29cc5c39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0e29cc5c39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https://docs.nvidia.com/nemo-framework/user-guide/latest/nemotoolkit/features/parallelisms.html</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0e29cc5c39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0e29cc5c39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0e29cc5c39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0e29cc5c39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0e29cc5c39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0e29cc5c39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0e29cc5c39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0e29cc5c39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https://www.microsoft.com/en-us/research/blog/zero-deepspeed-new-system-optimizations-enable-training-models-with-over-100-billion-parameters/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0e29cc5c39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0e29cc5c39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https://sumanthrh.com/post/distributed-and-efficient-finetuning/</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0e29cc5c39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0e29cc5c39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https://sumanthrh.com/post/distributed-and-efficient-finetuning/</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0e29cc5c39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0e29cc5c39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https://sumanthrh.com/post/distributed-and-efficient-finetuning/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3.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Scaling LLM Training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we scaling?</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Model Size/# of Params → Increased memory consumption to fit model + gradients</a:t>
            </a:r>
            <a:endParaRPr/>
          </a:p>
          <a:p>
            <a:pPr indent="-342900" lvl="0" marL="457200" rtl="0" algn="l">
              <a:spcBef>
                <a:spcPts val="1000"/>
              </a:spcBef>
              <a:spcAft>
                <a:spcPts val="0"/>
              </a:spcAft>
              <a:buSzPts val="1800"/>
              <a:buChar char="●"/>
            </a:pPr>
            <a:r>
              <a:rPr lang="en"/>
              <a:t># of Training Examples/# of Tokens → Training takes longer</a:t>
            </a:r>
            <a:endParaRPr/>
          </a:p>
          <a:p>
            <a:pPr indent="0" lvl="0" marL="0" rtl="0" algn="l">
              <a:spcBef>
                <a:spcPts val="10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Scaling </a:t>
            </a:r>
            <a:endParaRPr/>
          </a:p>
        </p:txBody>
      </p:sp>
      <p:pic>
        <p:nvPicPr>
          <p:cNvPr id="67" name="Google Shape;67;p15"/>
          <p:cNvPicPr preferRelativeResize="0"/>
          <p:nvPr/>
        </p:nvPicPr>
        <p:blipFill rotWithShape="1">
          <a:blip r:embed="rId3">
            <a:alphaModFix/>
          </a:blip>
          <a:srcRect b="0" l="0" r="50758" t="0"/>
          <a:stretch/>
        </p:blipFill>
        <p:spPr>
          <a:xfrm>
            <a:off x="311700" y="1308050"/>
            <a:ext cx="3978475" cy="2601200"/>
          </a:xfrm>
          <a:prstGeom prst="rect">
            <a:avLst/>
          </a:prstGeom>
          <a:noFill/>
          <a:ln>
            <a:noFill/>
          </a:ln>
        </p:spPr>
      </p:pic>
      <p:pic>
        <p:nvPicPr>
          <p:cNvPr id="68" name="Google Shape;68;p15"/>
          <p:cNvPicPr preferRelativeResize="0"/>
          <p:nvPr/>
        </p:nvPicPr>
        <p:blipFill rotWithShape="1">
          <a:blip r:embed="rId3">
            <a:alphaModFix/>
          </a:blip>
          <a:srcRect b="0" l="50014" r="1666" t="7910"/>
          <a:stretch/>
        </p:blipFill>
        <p:spPr>
          <a:xfrm>
            <a:off x="4800098" y="1519275"/>
            <a:ext cx="3895102" cy="2389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Some Ideas Need Scale</a:t>
            </a:r>
            <a:endParaRPr/>
          </a:p>
        </p:txBody>
      </p:sp>
      <p:pic>
        <p:nvPicPr>
          <p:cNvPr id="74" name="Google Shape;74;p16"/>
          <p:cNvPicPr preferRelativeResize="0"/>
          <p:nvPr/>
        </p:nvPicPr>
        <p:blipFill>
          <a:blip r:embed="rId3">
            <a:alphaModFix/>
          </a:blip>
          <a:stretch>
            <a:fillRect/>
          </a:stretch>
        </p:blipFill>
        <p:spPr>
          <a:xfrm>
            <a:off x="2825412" y="1017713"/>
            <a:ext cx="3493170" cy="3820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Gradient Checkpointing</a:t>
            </a:r>
            <a:endParaRPr/>
          </a:p>
        </p:txBody>
      </p:sp>
      <p:sp>
        <p:nvSpPr>
          <p:cNvPr id="80" name="Google Shape;80;p17"/>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Trade memory for computation by re-computing some activations during the backward pass rather than storing them</a:t>
            </a:r>
            <a:endParaRPr/>
          </a:p>
          <a:p>
            <a:pPr indent="0" lvl="0" marL="457200" rtl="0" algn="l">
              <a:spcBef>
                <a:spcPts val="1200"/>
              </a:spcBef>
              <a:spcAft>
                <a:spcPts val="1200"/>
              </a:spcAft>
              <a:buNone/>
            </a:pPr>
            <a:r>
              <a:t/>
            </a:r>
            <a:endParaRPr/>
          </a:p>
        </p:txBody>
      </p:sp>
      <p:pic>
        <p:nvPicPr>
          <p:cNvPr id="81" name="Google Shape;81;p17"/>
          <p:cNvPicPr preferRelativeResize="0"/>
          <p:nvPr/>
        </p:nvPicPr>
        <p:blipFill>
          <a:blip r:embed="rId3">
            <a:alphaModFix/>
          </a:blip>
          <a:stretch>
            <a:fillRect/>
          </a:stretch>
        </p:blipFill>
        <p:spPr>
          <a:xfrm>
            <a:off x="4993350" y="950188"/>
            <a:ext cx="3764896" cy="382097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Gradient Accumulation</a:t>
            </a:r>
            <a:endParaRPr/>
          </a:p>
        </p:txBody>
      </p:sp>
      <p:pic>
        <p:nvPicPr>
          <p:cNvPr id="87" name="Google Shape;87;p18"/>
          <p:cNvPicPr preferRelativeResize="0"/>
          <p:nvPr/>
        </p:nvPicPr>
        <p:blipFill>
          <a:blip r:embed="rId3">
            <a:alphaModFix/>
          </a:blip>
          <a:stretch>
            <a:fillRect/>
          </a:stretch>
        </p:blipFill>
        <p:spPr>
          <a:xfrm>
            <a:off x="509063" y="1432825"/>
            <a:ext cx="8125875" cy="27139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Mixed Precision Training</a:t>
            </a:r>
            <a:endParaRPr/>
          </a:p>
        </p:txBody>
      </p:sp>
      <p:pic>
        <p:nvPicPr>
          <p:cNvPr id="93" name="Google Shape;93;p19"/>
          <p:cNvPicPr preferRelativeResize="0"/>
          <p:nvPr/>
        </p:nvPicPr>
        <p:blipFill>
          <a:blip r:embed="rId3">
            <a:alphaModFix/>
          </a:blip>
          <a:stretch>
            <a:fillRect/>
          </a:stretch>
        </p:blipFill>
        <p:spPr>
          <a:xfrm>
            <a:off x="1615038" y="1156075"/>
            <a:ext cx="5913925" cy="3512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Mixed Precision Training – Loss Scaling</a:t>
            </a:r>
            <a:endParaRPr/>
          </a:p>
        </p:txBody>
      </p:sp>
      <p:sp>
        <p:nvSpPr>
          <p:cNvPr id="99" name="Google Shape;99;p20"/>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Small gradient values will → 0 in half precision</a:t>
            </a:r>
            <a:endParaRPr/>
          </a:p>
          <a:p>
            <a:pPr indent="-342900" lvl="0" marL="457200" rtl="0" algn="l">
              <a:spcBef>
                <a:spcPts val="1000"/>
              </a:spcBef>
              <a:spcAft>
                <a:spcPts val="0"/>
              </a:spcAft>
              <a:buSzPts val="1800"/>
              <a:buChar char="●"/>
            </a:pPr>
            <a:r>
              <a:rPr lang="en"/>
              <a:t>To solve, scale the gradients to keep them from becoming 0</a:t>
            </a:r>
            <a:endParaRPr/>
          </a:p>
          <a:p>
            <a:pPr indent="-342900" lvl="0" marL="457200" rtl="0" algn="l">
              <a:spcBef>
                <a:spcPts val="1000"/>
              </a:spcBef>
              <a:spcAft>
                <a:spcPts val="1000"/>
              </a:spcAft>
              <a:buSzPts val="1800"/>
              <a:buChar char="●"/>
            </a:pPr>
            <a:r>
              <a:rPr lang="en"/>
              <a:t>Weight gradients need to be unscaled again prior to update, and some values need to be kept in full precision (e.g. batch norm statistics &amp; softmax)</a:t>
            </a:r>
            <a:endParaRPr/>
          </a:p>
        </p:txBody>
      </p:sp>
      <p:pic>
        <p:nvPicPr>
          <p:cNvPr id="100" name="Google Shape;100;p20"/>
          <p:cNvPicPr preferRelativeResize="0"/>
          <p:nvPr/>
        </p:nvPicPr>
        <p:blipFill>
          <a:blip r:embed="rId3">
            <a:alphaModFix/>
          </a:blip>
          <a:stretch>
            <a:fillRect/>
          </a:stretch>
        </p:blipFill>
        <p:spPr>
          <a:xfrm>
            <a:off x="4724400" y="1369338"/>
            <a:ext cx="4267201" cy="240482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Parallelism</a:t>
            </a:r>
            <a:endParaRPr/>
          </a:p>
        </p:txBody>
      </p:sp>
      <p:pic>
        <p:nvPicPr>
          <p:cNvPr id="106" name="Google Shape;106;p21"/>
          <p:cNvPicPr preferRelativeResize="0"/>
          <p:nvPr/>
        </p:nvPicPr>
        <p:blipFill>
          <a:blip r:embed="rId3">
            <a:alphaModFix/>
          </a:blip>
          <a:stretch>
            <a:fillRect/>
          </a:stretch>
        </p:blipFill>
        <p:spPr>
          <a:xfrm>
            <a:off x="152400" y="1170125"/>
            <a:ext cx="8839201" cy="343119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Parallelism</a:t>
            </a:r>
            <a:endParaRPr/>
          </a:p>
        </p:txBody>
      </p:sp>
      <p:pic>
        <p:nvPicPr>
          <p:cNvPr id="112" name="Google Shape;112;p22"/>
          <p:cNvPicPr preferRelativeResize="0"/>
          <p:nvPr/>
        </p:nvPicPr>
        <p:blipFill>
          <a:blip r:embed="rId3">
            <a:alphaModFix/>
          </a:blip>
          <a:stretch>
            <a:fillRect/>
          </a:stretch>
        </p:blipFill>
        <p:spPr>
          <a:xfrm>
            <a:off x="2559525" y="1198925"/>
            <a:ext cx="4024944" cy="382097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Pipeline Parallelism</a:t>
            </a:r>
            <a:endParaRPr/>
          </a:p>
        </p:txBody>
      </p:sp>
      <p:pic>
        <p:nvPicPr>
          <p:cNvPr id="118" name="Google Shape;118;p23"/>
          <p:cNvPicPr preferRelativeResize="0"/>
          <p:nvPr/>
        </p:nvPicPr>
        <p:blipFill>
          <a:blip r:embed="rId3">
            <a:alphaModFix/>
          </a:blip>
          <a:stretch>
            <a:fillRect/>
          </a:stretch>
        </p:blipFill>
        <p:spPr>
          <a:xfrm>
            <a:off x="1127696" y="1017725"/>
            <a:ext cx="6888600" cy="3876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Pipeline Parallelism</a:t>
            </a:r>
            <a:endParaRPr/>
          </a:p>
        </p:txBody>
      </p:sp>
      <p:pic>
        <p:nvPicPr>
          <p:cNvPr id="124" name="Google Shape;124;p24"/>
          <p:cNvPicPr preferRelativeResize="0"/>
          <p:nvPr/>
        </p:nvPicPr>
        <p:blipFill>
          <a:blip r:embed="rId3">
            <a:alphaModFix/>
          </a:blip>
          <a:stretch>
            <a:fillRect/>
          </a:stretch>
        </p:blipFill>
        <p:spPr>
          <a:xfrm>
            <a:off x="1132100" y="1074075"/>
            <a:ext cx="6790191" cy="3820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Pipeline Parallelism</a:t>
            </a:r>
            <a:endParaRPr/>
          </a:p>
        </p:txBody>
      </p:sp>
      <p:pic>
        <p:nvPicPr>
          <p:cNvPr id="130" name="Google Shape;130;p25"/>
          <p:cNvPicPr preferRelativeResize="0"/>
          <p:nvPr/>
        </p:nvPicPr>
        <p:blipFill>
          <a:blip r:embed="rId3">
            <a:alphaModFix/>
          </a:blip>
          <a:stretch>
            <a:fillRect/>
          </a:stretch>
        </p:blipFill>
        <p:spPr>
          <a:xfrm>
            <a:off x="1176900" y="1093300"/>
            <a:ext cx="6790191" cy="3820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Pipeline Parallelism</a:t>
            </a:r>
            <a:endParaRPr/>
          </a:p>
        </p:txBody>
      </p:sp>
      <p:pic>
        <p:nvPicPr>
          <p:cNvPr id="136" name="Google Shape;136;p26"/>
          <p:cNvPicPr preferRelativeResize="0"/>
          <p:nvPr/>
        </p:nvPicPr>
        <p:blipFill>
          <a:blip r:embed="rId3">
            <a:alphaModFix/>
          </a:blip>
          <a:stretch>
            <a:fillRect/>
          </a:stretch>
        </p:blipFill>
        <p:spPr>
          <a:xfrm>
            <a:off x="1176900" y="1064450"/>
            <a:ext cx="6790191" cy="382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Pipeline Parallelism</a:t>
            </a:r>
            <a:endParaRPr/>
          </a:p>
        </p:txBody>
      </p:sp>
      <p:pic>
        <p:nvPicPr>
          <p:cNvPr id="142" name="Google Shape;142;p27"/>
          <p:cNvPicPr preferRelativeResize="0"/>
          <p:nvPr/>
        </p:nvPicPr>
        <p:blipFill>
          <a:blip r:embed="rId3">
            <a:alphaModFix/>
          </a:blip>
          <a:stretch>
            <a:fillRect/>
          </a:stretch>
        </p:blipFill>
        <p:spPr>
          <a:xfrm>
            <a:off x="1176900" y="1150925"/>
            <a:ext cx="6790191" cy="3820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Pipeline</a:t>
            </a:r>
            <a:r>
              <a:rPr lang="en"/>
              <a:t> Parallelism</a:t>
            </a:r>
            <a:endParaRPr/>
          </a:p>
        </p:txBody>
      </p:sp>
      <p:pic>
        <p:nvPicPr>
          <p:cNvPr id="148" name="Google Shape;148;p28"/>
          <p:cNvPicPr preferRelativeResize="0"/>
          <p:nvPr/>
        </p:nvPicPr>
        <p:blipFill>
          <a:blip r:embed="rId3">
            <a:alphaModFix/>
          </a:blip>
          <a:stretch>
            <a:fillRect/>
          </a:stretch>
        </p:blipFill>
        <p:spPr>
          <a:xfrm>
            <a:off x="1176900" y="1064475"/>
            <a:ext cx="6790191" cy="3820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Tensor Parallelism</a:t>
            </a:r>
            <a:endParaRPr/>
          </a:p>
        </p:txBody>
      </p:sp>
      <p:pic>
        <p:nvPicPr>
          <p:cNvPr id="154" name="Google Shape;154;p29"/>
          <p:cNvPicPr preferRelativeResize="0"/>
          <p:nvPr/>
        </p:nvPicPr>
        <p:blipFill>
          <a:blip r:embed="rId3">
            <a:alphaModFix/>
          </a:blip>
          <a:stretch>
            <a:fillRect/>
          </a:stretch>
        </p:blipFill>
        <p:spPr>
          <a:xfrm>
            <a:off x="2141925" y="948100"/>
            <a:ext cx="4915024" cy="399497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Tensor Parallelism</a:t>
            </a:r>
            <a:endParaRPr/>
          </a:p>
        </p:txBody>
      </p:sp>
      <p:pic>
        <p:nvPicPr>
          <p:cNvPr id="160" name="Google Shape;160;p30"/>
          <p:cNvPicPr preferRelativeResize="0"/>
          <p:nvPr/>
        </p:nvPicPr>
        <p:blipFill>
          <a:blip r:embed="rId3">
            <a:alphaModFix/>
          </a:blip>
          <a:stretch>
            <a:fillRect/>
          </a:stretch>
        </p:blipFill>
        <p:spPr>
          <a:xfrm>
            <a:off x="1176900" y="1160525"/>
            <a:ext cx="6790191" cy="3820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Tensor Parallelism</a:t>
            </a:r>
            <a:endParaRPr/>
          </a:p>
        </p:txBody>
      </p:sp>
      <p:pic>
        <p:nvPicPr>
          <p:cNvPr id="166" name="Google Shape;166;p31"/>
          <p:cNvPicPr preferRelativeResize="0"/>
          <p:nvPr/>
        </p:nvPicPr>
        <p:blipFill>
          <a:blip r:embed="rId3">
            <a:alphaModFix/>
          </a:blip>
          <a:stretch>
            <a:fillRect/>
          </a:stretch>
        </p:blipFill>
        <p:spPr>
          <a:xfrm>
            <a:off x="1236763" y="1164175"/>
            <a:ext cx="6670475" cy="3753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Tensor Parallelism</a:t>
            </a:r>
            <a:endParaRPr/>
          </a:p>
        </p:txBody>
      </p:sp>
      <p:pic>
        <p:nvPicPr>
          <p:cNvPr id="172" name="Google Shape;172;p32"/>
          <p:cNvPicPr preferRelativeResize="0"/>
          <p:nvPr/>
        </p:nvPicPr>
        <p:blipFill>
          <a:blip r:embed="rId3">
            <a:alphaModFix/>
          </a:blip>
          <a:stretch>
            <a:fillRect/>
          </a:stretch>
        </p:blipFill>
        <p:spPr>
          <a:xfrm>
            <a:off x="1176900" y="1083675"/>
            <a:ext cx="6790191" cy="3820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ZeRO</a:t>
            </a:r>
            <a:endParaRPr/>
          </a:p>
        </p:txBody>
      </p:sp>
      <p:pic>
        <p:nvPicPr>
          <p:cNvPr id="178" name="Google Shape;178;p33"/>
          <p:cNvPicPr preferRelativeResize="0"/>
          <p:nvPr/>
        </p:nvPicPr>
        <p:blipFill>
          <a:blip r:embed="rId3">
            <a:alphaModFix/>
          </a:blip>
          <a:stretch>
            <a:fillRect/>
          </a:stretch>
        </p:blipFill>
        <p:spPr>
          <a:xfrm>
            <a:off x="311700" y="1210200"/>
            <a:ext cx="8520601" cy="351218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CPU-Offloading</a:t>
            </a:r>
            <a:endParaRPr/>
          </a:p>
        </p:txBody>
      </p:sp>
      <p:pic>
        <p:nvPicPr>
          <p:cNvPr id="184" name="Google Shape;184;p34"/>
          <p:cNvPicPr preferRelativeResize="0"/>
          <p:nvPr/>
        </p:nvPicPr>
        <p:blipFill>
          <a:blip r:embed="rId3">
            <a:alphaModFix/>
          </a:blip>
          <a:stretch>
            <a:fillRect/>
          </a:stretch>
        </p:blipFill>
        <p:spPr>
          <a:xfrm>
            <a:off x="1604063" y="1093300"/>
            <a:ext cx="5935876" cy="3820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Fully Sharded Data Parallel</a:t>
            </a:r>
            <a:endParaRPr/>
          </a:p>
        </p:txBody>
      </p:sp>
      <p:pic>
        <p:nvPicPr>
          <p:cNvPr id="190" name="Google Shape;190;p35"/>
          <p:cNvPicPr preferRelativeResize="0"/>
          <p:nvPr/>
        </p:nvPicPr>
        <p:blipFill>
          <a:blip r:embed="rId3">
            <a:alphaModFix/>
          </a:blip>
          <a:stretch>
            <a:fillRect/>
          </a:stretch>
        </p:blipFill>
        <p:spPr>
          <a:xfrm>
            <a:off x="503250" y="1141300"/>
            <a:ext cx="8137500" cy="36754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Fully Sharded Data Parallel</a:t>
            </a:r>
            <a:endParaRPr/>
          </a:p>
        </p:txBody>
      </p:sp>
      <p:pic>
        <p:nvPicPr>
          <p:cNvPr id="196" name="Google Shape;196;p36"/>
          <p:cNvPicPr preferRelativeResize="0"/>
          <p:nvPr/>
        </p:nvPicPr>
        <p:blipFill>
          <a:blip r:embed="rId3">
            <a:alphaModFix/>
          </a:blip>
          <a:stretch>
            <a:fillRect/>
          </a:stretch>
        </p:blipFill>
        <p:spPr>
          <a:xfrm>
            <a:off x="1953038" y="1131700"/>
            <a:ext cx="5237920" cy="3820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